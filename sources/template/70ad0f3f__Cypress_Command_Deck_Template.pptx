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6f405724ca400d" /><Relationship Type="http://schemas.openxmlformats.org/officeDocument/2006/relationships/extended-properties" Target="/docProps/app.xml" Id="R4a7c1165cae747eb" /><Relationship Type="http://schemas.openxmlformats.org/officeDocument/2006/relationships/officeDocument" Target="/ppt/presentation.xml" Id="Re881f67ced9849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ce009c879d41d1"/>
  </p:sldMasterIdLst>
  <p:notesMasterIdLst>
    <p:notesMasterId xmlns:r="http://schemas.openxmlformats.org/officeDocument/2006/relationships" r:id="R4e133bf6506f4edc"/>
  </p:notesMasterIdLst>
  <p:sldIdLst>
    <p:sldId xmlns:r="http://schemas.openxmlformats.org/officeDocument/2006/relationships" id="256" r:id="Ra40b65fffa7f4f46"/>
    <p:sldId xmlns:r="http://schemas.openxmlformats.org/officeDocument/2006/relationships" id="257" r:id="R4f53cb9a3cc34654"/>
    <p:sldId xmlns:r="http://schemas.openxmlformats.org/officeDocument/2006/relationships" id="258" r:id="R9a1a4fe9a1b741cc"/>
    <p:sldId xmlns:r="http://schemas.openxmlformats.org/officeDocument/2006/relationships" id="259" r:id="R2e098bde8600422a"/>
    <p:sldId xmlns:r="http://schemas.openxmlformats.org/officeDocument/2006/relationships" id="260" r:id="R651b8360ef144245"/>
    <p:sldId xmlns:r="http://schemas.openxmlformats.org/officeDocument/2006/relationships" id="261" r:id="R6ee5adc4577449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25397b119c46ee" /><Relationship Type="http://schemas.openxmlformats.org/officeDocument/2006/relationships/slideMaster" Target="/ppt/slideMasters/slideMaster1.xml" Id="R72ce009c879d41d1" /><Relationship Type="http://schemas.openxmlformats.org/officeDocument/2006/relationships/notesMaster" Target="/ppt/notesMasters/notesMaster1.xml" Id="R4e133bf6506f4edc" /><Relationship Type="http://schemas.openxmlformats.org/officeDocument/2006/relationships/presProps" Target="/ppt/presProps.xml" Id="Rb65a80ec016845c4" /><Relationship Type="http://schemas.openxmlformats.org/officeDocument/2006/relationships/tableStyles" Target="/ppt/tableStyles.xml" Id="R75664d95685c47cc" /><Relationship Type="http://schemas.openxmlformats.org/officeDocument/2006/relationships/slide" Target="/ppt/slides/slide1.xml" Id="Ra40b65fffa7f4f46" /><Relationship Type="http://schemas.openxmlformats.org/officeDocument/2006/relationships/slide" Target="/ppt/slides/slide2.xml" Id="R4f53cb9a3cc34654" /><Relationship Type="http://schemas.openxmlformats.org/officeDocument/2006/relationships/slide" Target="/ppt/slides/slide3.xml" Id="R9a1a4fe9a1b741cc" /><Relationship Type="http://schemas.openxmlformats.org/officeDocument/2006/relationships/slide" Target="/ppt/slides/slide4.xml" Id="R2e098bde8600422a" /><Relationship Type="http://schemas.openxmlformats.org/officeDocument/2006/relationships/slide" Target="/ppt/slides/slide5.xml" Id="R651b8360ef144245" /><Relationship Type="http://schemas.openxmlformats.org/officeDocument/2006/relationships/slide" Target="/ppt/slides/slide6.xml" Id="R6ee5adc4577449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93d7e71d6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8b8bbaa524e41" /><Relationship Type="http://schemas.openxmlformats.org/officeDocument/2006/relationships/notesMaster" Target="/ppt/notesMasters/notesMaster1.xml" Id="Rc56e6f69697f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2faf7397984a90" /><Relationship Type="http://schemas.openxmlformats.org/officeDocument/2006/relationships/notesMaster" Target="/ppt/notesMasters/notesMaster1.xml" Id="R86e7e9a8ee8848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ae7ca7209459d" /><Relationship Type="http://schemas.openxmlformats.org/officeDocument/2006/relationships/notesMaster" Target="/ppt/notesMasters/notesMaster1.xml" Id="R35c23737a8894b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65f20c4a0c4b1a" /><Relationship Type="http://schemas.openxmlformats.org/officeDocument/2006/relationships/notesMaster" Target="/ppt/notesMasters/notesMaster1.xml" Id="R32b2f0728d364f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3042fcaa0b4a91" /><Relationship Type="http://schemas.openxmlformats.org/officeDocument/2006/relationships/notesMaster" Target="/ppt/notesMasters/notesMaster1.xml" Id="R4e692fe1b0ae4c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24926c0cef4444" /><Relationship Type="http://schemas.openxmlformats.org/officeDocument/2006/relationships/notesMaster" Target="/ppt/notesMasters/notesMaster1.xml" Id="R1deb85c7828a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ecc0eadff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90f375fc184e34" /><Relationship Type="http://schemas.openxmlformats.org/officeDocument/2006/relationships/slideLayout" Target="/ppt/slideLayouts/slideLayout1.xml" Id="R6ce1b906184844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e1b906184844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fac4581a84b99" /><Relationship Type="http://schemas.openxmlformats.org/officeDocument/2006/relationships/notesSlide" Target="/ppt/notesSlides/notesSlide1.xml" Id="R232f80dd6d5645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57516a6b14b3e" /><Relationship Type="http://schemas.openxmlformats.org/officeDocument/2006/relationships/notesSlide" Target="/ppt/notesSlides/notesSlide2.xml" Id="R7e9a9e41195b46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7f3960f714310" /><Relationship Type="http://schemas.openxmlformats.org/officeDocument/2006/relationships/notesSlide" Target="/ppt/notesSlides/notesSlide3.xml" Id="Rf93ca35860224c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3918d9b2843d5" /><Relationship Type="http://schemas.openxmlformats.org/officeDocument/2006/relationships/notesSlide" Target="/ppt/notesSlides/notesSlide4.xml" Id="Rc31d93e6ebc34f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b9d50c0394fbf" /><Relationship Type="http://schemas.openxmlformats.org/officeDocument/2006/relationships/notesSlide" Target="/ppt/notesSlides/notesSlide5.xml" Id="Rf2593e08a8814d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95d3e96c748aa" /><Relationship Type="http://schemas.openxmlformats.org/officeDocument/2006/relationships/notesSlide" Target="/ppt/notesSlides/notesSlide6.xml" Id="R0c0e82a9d2dd47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E90F3-1DD7-4872-81E8-92329426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1612"/>
                </a:solidFill>
                <a:latin typeface="Arial"/>
                <a:ea typeface="Arial"/>
                <a:cs typeface="Arial"/>
              </a:rPr>
              <a:t>CYPRESS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8135B-94EB-4FC9-8AC5-6CABDA51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DESIGN SYSTEM / EDITABLE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CBF90-6937-4BAC-8C4C-3854B11C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71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100" b="0">
                <a:solidFill>
                  <a:srgbClr val="181612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181612"/>
                </a:solidFill>
                <a:latin typeface="Georgia"/>
                <a:ea typeface="Georgia"/>
                <a:cs typeface="Georgia"/>
              </a:rPr>
              <a:t>Clear systems</a:t>
            </a:r>
          </a:p>
          <a:p xmlns:a="http://schemas.openxmlformats.org/drawingml/2006/main">
            <a:pPr>
              <a:defRPr sz="5100" b="0">
                <a:solidFill>
                  <a:srgbClr val="181612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181612"/>
                </a:solidFill>
                <a:latin typeface="Georgia"/>
                <a:ea typeface="Georgia"/>
                <a:cs typeface="Georgia"/>
              </a:rPr>
              <a:t>for real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73C83-A572-4FB8-A72F-EB338A14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7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574F"/>
                </a:solidFill>
                <a:latin typeface="Arial"/>
                <a:ea typeface="Arial"/>
                <a:cs typeface="Arial"/>
              </a:rPr>
              <a:t>A presentation template for proposals, operating reviews, and system documentation.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73354-C8E8-45CC-8C13-96986828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3503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28CDC-72E1-41E2-B3F4-7A634637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1612"/>
                </a:solidFill>
                <a:latin typeface="Arial"/>
                <a:ea typeface="Arial"/>
                <a:cs typeface="Arial"/>
              </a:rPr>
              <a:t>CYPRESS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689B2-B12B-49D5-A4B4-4E1888C9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DESIGN SYSTEM / EDITABLE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54FDE-ECB1-4A30-AE57-87265BA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81612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81612"/>
                </a:solidFill>
                <a:latin typeface="Georgia"/>
                <a:ea typeface="Georgia"/>
                <a:cs typeface="Georgia"/>
              </a:rPr>
              <a:t>The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E4FE5-C0A4-4C30-82EE-A122F60B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AE91C-8C88-43C0-9272-66F00565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Understand the current state, sources, owners, and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EB799-0AA9-4D09-BDD4-613B6089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7908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87908"/>
                </a:solidFill>
                <a:latin typeface="Courier New"/>
                <a:ea typeface="Courier New"/>
                <a:cs typeface="Courier New"/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1D8C9-ECF1-48E4-929D-A6C24BA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Define the structure, decisions, and operating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85F0F-AC3A-4A39-A041-9DE02620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D2D2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7D2D27"/>
                </a:solidFill>
                <a:latin typeface="Courier New"/>
                <a:ea typeface="Courier New"/>
                <a:cs typeface="Courier New"/>
              </a:rPr>
              <a:t>INSTALL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26A6C-F76E-4098-998B-2AE53731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9875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Put the system into real work with accountable owners.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4FE29-073A-47AB-9FF2-0B40B28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2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667247"/>
                </a:solidFill>
                <a:latin typeface="Courier New"/>
                <a:ea typeface="Courier New"/>
                <a:cs typeface="Courier New"/>
              </a:rPr>
              <a:t>OPERATE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EFBEE-584E-4CE0-BB57-24C8D4F7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Measure, maintain, and improve the working system.</a:t>
            </a:r>
          </a:p>
        </p:txBody>
      </p:sp>
    </p:spTree>
    <p:extLst>
      <p:ext uri="{BB962C8B-B14F-4D97-AF65-F5344CB8AC3E}">
        <p14:creationId xmlns:p14="http://schemas.microsoft.com/office/powerpoint/2010/main" val="674285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D87AD-7024-4F7D-8BE3-E3BAA98F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ED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EDDF"/>
                </a:solidFill>
                <a:latin typeface="Arial"/>
                <a:ea typeface="Arial"/>
                <a:cs typeface="Arial"/>
              </a:rPr>
              <a:t>CYPRESS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71D1F-F498-42D8-8FEB-E148CC45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DB6A6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BDB6A6"/>
                </a:solidFill>
                <a:latin typeface="Courier New"/>
                <a:ea typeface="Courier New"/>
                <a:cs typeface="Courier New"/>
              </a:rPr>
              <a:t>DESIGN SYSTEM / EDITABLE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9B528-9D02-41E5-B185-E9C878A5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2EDDF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2EDDF"/>
                </a:solidFill>
                <a:latin typeface="Georgia"/>
                <a:ea typeface="Georgia"/>
                <a:cs typeface="Georgia"/>
              </a:rPr>
              <a:t>A strong assertion belongs 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27B50-CF11-47F9-A109-C1BD9188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DB6A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DB6A6"/>
                </a:solidFill>
                <a:latin typeface="Arial"/>
                <a:ea typeface="Arial"/>
                <a:cs typeface="Arial"/>
              </a:rPr>
              <a:t>Use one evidence line or decision statement. Keep the slide spare enough for the claim to land.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CA271-AC7F-481E-B64A-31DE315F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77B4B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D77B4B"/>
                </a:solidFill>
                <a:latin typeface="Courier New"/>
                <a:ea typeface="Courier New"/>
                <a:cs typeface="Courier New"/>
              </a:rPr>
              <a:t>TERRA MARKS THE ACTIVE POINT</a:t>
            </a:r>
          </a:p>
        </p:txBody>
      </p:sp>
    </p:spTree>
    <p:extLst>
      <p:ext uri="{BB962C8B-B14F-4D97-AF65-F5344CB8AC3E}">
        <p14:creationId xmlns:p14="http://schemas.microsoft.com/office/powerpoint/2010/main" val="935690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663CB-4D0A-49DF-B8EA-0C82229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1612"/>
                </a:solidFill>
                <a:latin typeface="Arial"/>
                <a:ea typeface="Arial"/>
                <a:cs typeface="Arial"/>
              </a:rPr>
              <a:t>CYPRESS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124AF-F7DB-4B9B-A5D6-69423E8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DESIGN SYSTEM / EDITABLE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DA9D2-B94B-4A94-9BE8-C8ED1236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81612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81612"/>
                </a:solidFill>
                <a:latin typeface="Georgia"/>
                <a:ea typeface="Georgia"/>
                <a:cs typeface="Georgia"/>
              </a:rPr>
              <a:t>Evidence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D2563-9035-4F30-859F-C68A9EE5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791BB-D8AA-4167-B6F5-28498A6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95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1039F-B46A-4F89-8DA0-953DF83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BE4A8-B72A-4E68-97D0-E67A42B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Operating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8BC3A-AEA5-4A6B-9288-63F94621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Adam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EBB7B-D957-4089-AE5D-9EC054BB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DC57B-4C8A-4319-9E19-21227BF4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Implementation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21F9F-309B-4F23-A063-5E8DFF13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671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BB21B-552E-4EA8-9BA3-BF49A986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671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27F50-479A-424A-AD18-5D4A074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Exception register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AD967-1C3C-4F0D-81D5-F7963063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52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Steward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FA15B-AC30-45A8-A3E1-B87D0E0C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52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A8B31-848F-47FC-BDE7-0CD6495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All values shown are fictional template content.</a:t>
            </a:r>
          </a:p>
        </p:txBody>
      </p:sp>
    </p:spTree>
    <p:extLst>
      <p:ext uri="{BB962C8B-B14F-4D97-AF65-F5344CB8AC3E}">
        <p14:creationId xmlns:p14="http://schemas.microsoft.com/office/powerpoint/2010/main" val="80225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DBEF6-E58D-4B1F-9678-CD7C694B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1612"/>
                </a:solidFill>
                <a:latin typeface="Arial"/>
                <a:ea typeface="Arial"/>
                <a:cs typeface="Arial"/>
              </a:rPr>
              <a:t>CYPRESS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FF765-12B1-4936-8521-8E03072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DESIGN SYSTEM / EDITABLE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7680B-4711-4C4A-A15C-DB8BEE31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81612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81612"/>
                </a:solidFill>
                <a:latin typeface="Georgia"/>
                <a:ea typeface="Georgia"/>
                <a:cs typeface="Georgia"/>
              </a:rPr>
              <a:t>Decision capture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A475C-7771-401C-9714-ADA00F9A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FDB3B-21F0-4E38-8D92-0305266A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Record the decision and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C6A47-698E-4226-BC61-2CDFCB33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8304E-2CD1-4E65-8EBA-79549C25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Name the owner and review 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B5066-68D3-4FEE-83D5-4C2325B1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BA7A5-B6FA-475D-924E-8BEB2340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Link dependent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3D038-CC06-4DEF-AF81-1C69CC0C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64E22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AD86C-E75C-4DC2-AA10-5E5810ED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16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1612"/>
                </a:solidFill>
                <a:latin typeface="Arial"/>
                <a:ea typeface="Arial"/>
                <a:cs typeface="Arial"/>
              </a:rPr>
              <a:t>Close or supersede stale versions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9D97F-DEF9-4F87-83EF-A18B1511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816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574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5C574F"/>
                </a:solidFill>
                <a:latin typeface="Courier New"/>
                <a:ea typeface="Courier New"/>
                <a:cs typeface="Courier New"/>
              </a:rPr>
              <a:t>TECHNICAL EXPRESSION</a:t>
            </a:r>
          </a:p>
        </p:txBody>
      </p:sp>
    </p:spTree>
    <p:extLst>
      <p:ext uri="{BB962C8B-B14F-4D97-AF65-F5344CB8AC3E}">
        <p14:creationId xmlns:p14="http://schemas.microsoft.com/office/powerpoint/2010/main" val="414924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A7BAD-B34D-4C4C-A0DE-76C045E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ED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EDDF"/>
                </a:solidFill>
                <a:latin typeface="Arial"/>
                <a:ea typeface="Arial"/>
                <a:cs typeface="Arial"/>
              </a:rPr>
              <a:t>CYPRESS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89088-618F-4B54-9BD5-95CEFF60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DB6A6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BDB6A6"/>
                </a:solidFill>
                <a:latin typeface="Courier New"/>
                <a:ea typeface="Courier New"/>
                <a:cs typeface="Courier New"/>
              </a:rPr>
              <a:t>DESIGN SYSTEM / EDITABLE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DC9BB-2E43-4A7B-A8E8-ED3F1C0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F2EDDF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F2EDDF"/>
                </a:solidFill>
                <a:latin typeface="Georgia"/>
                <a:ea typeface="Georgia"/>
                <a:cs typeface="Georgia"/>
              </a:rPr>
              <a:t>Questions and next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BCE1B-0C5D-4959-BDD0-89647467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77B4B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D77B4B"/>
                </a:solidFill>
                <a:latin typeface="Courier New"/>
                <a:ea typeface="Courier New"/>
                <a:cs typeface="Courier New"/>
              </a:rPr>
              <a:t>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18845-C052-4268-9534-89D4574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D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DDF"/>
                </a:solidFill>
                <a:latin typeface="Arial"/>
                <a:ea typeface="Arial"/>
                <a:cs typeface="Arial"/>
              </a:rPr>
              <a:t>Name the person accountable for the next move.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16D36-BD3D-4A07-B680-1D0E9FC9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77B4B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D77B4B"/>
                </a:solidFill>
                <a:latin typeface="Courier New"/>
                <a:ea typeface="Courier New"/>
                <a:cs typeface="Courier New"/>
              </a:rPr>
              <a:t>Review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1E46F-488A-4653-8130-9CD61E88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EDD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F2EDDF"/>
                </a:solidFill>
                <a:latin typeface="Courier New"/>
                <a:ea typeface="Courier New"/>
                <a:cs typeface="Courier New"/>
              </a:rPr>
              <a:t>YYYY-MM-DD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1EF6C-A300-4DC4-8DC8-BA15A6E2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7B4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D77B4B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6610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2026-09-20T23:12:16.9130000Z</dcterms:created>
  <dcterms:modified xsi:type="dcterms:W3CDTF">2026-09-20T23:12:16.9140000Z</dcterms:modified>
</coreProperties>
</file>